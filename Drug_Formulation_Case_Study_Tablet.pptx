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26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223875"/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Project Task 2</a:t>
            </a:r>
          </a:p>
        </p:txBody>
      </p:sp>
      <p:sp>
        <p:nvSpPr>
          <p:cNvPr id="5" name="Shape 3"/>
          <p:cNvSpPr/>
          <p:nvPr/>
        </p:nvSpPr>
        <p:spPr>
          <a:xfrm>
            <a:off x="9692640" y="5952565"/>
            <a:ext cx="1920240" cy="6858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CodeAlpha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Formulation: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Immediate-Release Tablet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(Acetaminophen) 500 mg Compressed Tablet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Process  •  Excipients  •  Stability  •  Challenges</a:t>
            </a:r>
            <a:endParaRPr lang="en-US" sz="1300" dirty="0"/>
          </a:p>
        </p:txBody>
      </p:sp>
      <p:pic>
        <p:nvPicPr>
          <p:cNvPr id="11" name="Image 0" descr="pil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23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Pharmaceutics  |  Solid Oral Dosage Forms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Tablet Dosage Form?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tablets remain the most widely used dosage form in oral drug delivery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EAF4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balanc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Dosing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2199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drug content per unit, manufactured under strict weight and content-uniformity control.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0020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EAF4F3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cog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562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Efficiency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22199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rotary presses enable large-scale, low-cost production with excellent reproducibility.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EAF4F3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shiel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1788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050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&amp; Handling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37083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moisture content and compact form give tablets good chemical and physical shelf-life.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74904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EAF4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023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1788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050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Convenience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3760" y="437083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package, transport, identify, and self-administer without specialized equipment.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Process — Wet Granulation Route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method for tablets with poor flow/compressibility, such as paracetamol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97864" y="2834640"/>
            <a:ext cx="9793224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1298448" cy="12984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80844" y="2148840"/>
            <a:ext cx="1298448" cy="12984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180844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52244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13048" y="2148840"/>
            <a:ext cx="1298448" cy="12984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84448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5252" y="2148840"/>
            <a:ext cx="1298448" cy="12984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45252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6652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77456" y="2148840"/>
            <a:ext cx="1298448" cy="12984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077456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48856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with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09660" y="2148840"/>
            <a:ext cx="1298448" cy="12984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709660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81060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41864" y="2148840"/>
            <a:ext cx="1298448" cy="12984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341864" y="2130552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113264" y="3557016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Process Notes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Granulation binds fine API and diluent powders into free-flowing granules, improving compressibility.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(tray or fluid-bed) reduces moisture to the target LOD, preventing capping and sticking later.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 is blended briefly at the end — over-blending weakens tablet hardness and delays disintegration.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checks: granule size distribution, LOD, blend uniformity, tablet weight, hardness, friability.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Excipients Used in the Formulation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tablet formula (per 500 mg dose unit)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389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Excipient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w/w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Paracetamol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Therapeutic agent (analgesic / antipyretic)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Diluent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Microcrystalline Cellulose (Avicel PH101)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Bulking agent; improves compressibility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Povidone (PVP K30)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Binds particles into granules for strength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Disintegrant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Sodium Starch Glycolate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Promotes rapid tablet breakup in fluid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Glidant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Colloidal Silicon Dioxide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powder flow into the die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Magnesium Stearate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friction; prevents sticking to punches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Coating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Opadry (HPMC-based film)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Aids swallowing, masks taste, protects from moisture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Factors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monitored across accelerated (40°C/75% RH) and long-term stability studies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therm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heat accelerates hydrolysis of paracetamol to p-aminophenol; controlled storage limits degradation.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tin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9110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Humidity / Moisture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ingress softens granules, causes caking, and can hydrolyze the API — desiccant packaging is used.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su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9110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Exposure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Photo-sensitive degradation is minimized with opaque film coating and light-protective blister foil.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flas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2428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Excipient Compatibility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sugars and certain lubricants can react with the API; compatibility studies screen excipients early.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shiel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2428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Oxidation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oxidative impurities are limited using antioxidants and inert (nitrogen-purged) processing where needed.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16F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114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vial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24281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Integrity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120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Alu-Alu or PVC/PVdC blisters provide a moisture and oxygen barrier over the shelf-life period.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Challenges &amp; Mitigations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EAF4F3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114300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FBEEEC"/>
          </a:solidFill>
          <a:ln/>
        </p:spPr>
      </p:sp>
      <p:pic>
        <p:nvPicPr>
          <p:cNvPr id="5" name="Image 0" descr="war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Challenges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has poor natural compressibility and tends toward capping/lamination.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drug loading (&gt;70%) leaves limited room for functional excipients.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Moisture-sensitive API risks hydrolysis during aqueous granulation.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Batch-to-batch variability in granule flow affects weight uniformity.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from lab press to production tooling can shift hardness/dissolution.</a:t>
            </a:r>
            <a:endParaRPr lang="en-US" sz="1250" dirty="0"/>
          </a:p>
        </p:txBody>
      </p:sp>
      <p:pic>
        <p:nvPicPr>
          <p:cNvPr id="8" name="Image 1" descr="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371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Strategies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537960" y="18745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MCC as a plastic-deforming diluent to improve binding and reduce capping.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binder concentration and granulation endpoint via in-process monitoring.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non-aqueous or controlled-moisture granulation; tight drying LOD limits.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design of experiments (DoE) to lock in robust process parameters.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scale-up with compressibility/compactibility studies before validation batches.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24316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447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24316F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4447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51960" y="20848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137160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24316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447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40°C/75%RH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55280" y="20848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1064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tablet formulation balances functional excipients against a high drug load to achieve consistent hardness, disintegration, and dissolution.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granulation remains the reliable route for poorly compressible actives like paracetamol, provided moisture and blending are tightly controlled.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is engineered in from the start — through excipient compatibility, film coating, and moisture-barrier packaging — not tested in as an afterthought.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assessment (DoE, in-process controls) turns scale-up and manufacturing challenges into predictable, manageable variables.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Formulation Case Study  |  Immediate-Release Tablet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755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Joshua Tagoe</cp:lastModifiedBy>
  <cp:revision>4</cp:revision>
  <dcterms:created xsi:type="dcterms:W3CDTF">2026-07-19T08:15:31Z</dcterms:created>
  <dcterms:modified xsi:type="dcterms:W3CDTF">2026-07-19T13:11:38Z</dcterms:modified>
</cp:coreProperties>
</file>